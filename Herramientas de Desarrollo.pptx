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4" r:id="rId7"/>
    <p:sldId id="266" r:id="rId8"/>
    <p:sldId id="261" r:id="rId9"/>
    <p:sldId id="262" r:id="rId10"/>
  </p:sldIdLst>
  <p:sldSz cx="12192000" cy="6858000"/>
  <p:notesSz cx="6858000" cy="9144000"/>
  <p:embeddedFontLst>
    <p:embeddedFont>
      <p:font typeface="ADLaM Display" panose="02010000000000000000" pitchFamily="2" charset="0"/>
      <p:regular r:id="rId12"/>
    </p:embeddedFon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Outfit" panose="020B0604020202020204" charset="0"/>
      <p:regular r:id="rId25"/>
      <p:bold r:id="rId26"/>
    </p:embeddedFont>
    <p:embeddedFont>
      <p:font typeface="Outfit ExtraBold" panose="020B0604020202020204" charset="0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1253E646-417A-3A28-1B5C-D84A69F9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1F06BE24-D8DB-0BD1-2646-1C0C3F4B5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771ECE52-555E-4E25-0645-E0FAA7EBF4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7325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81250" y="3603128"/>
            <a:ext cx="74295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415414" y="1911697"/>
            <a:ext cx="936117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 err="1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Herramientas</a:t>
            </a:r>
            <a:r>
              <a:rPr lang="en-US" sz="5400" b="0" i="0" u="none" strike="noStrike" cap="none" dirty="0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de Desarrollo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881437" y="2856458"/>
            <a:ext cx="4429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Universidad </a:t>
            </a:r>
            <a:r>
              <a:rPr lang="en-US" sz="1800" b="0" i="0" u="none" strike="noStrike" cap="none" dirty="0" err="1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Tecnológica</a:t>
            </a:r>
            <a:r>
              <a:rPr lang="en-US" sz="1800" b="0" i="0" u="none" strike="noStrike" cap="none" dirty="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 del Perú | 2026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867025" y="3898403"/>
            <a:ext cx="6457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Alumnos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Huaman Salas, Peña Quispe,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Tacsa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Flores, Valdivia Carrasco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867025" y="4346078"/>
            <a:ext cx="6457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Docente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Solis Flores Arturo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5564" y="152400"/>
            <a:ext cx="52292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Sistema de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Incidentes</a:t>
            </a:r>
            <a:endParaRPr dirty="0"/>
          </a:p>
        </p:txBody>
      </p:sp>
      <p:sp>
        <p:nvSpPr>
          <p:cNvPr id="98" name="Google Shape;98;p14"/>
          <p:cNvSpPr/>
          <p:nvPr/>
        </p:nvSpPr>
        <p:spPr>
          <a:xfrm>
            <a:off x="5715000" y="895350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66750" y="1838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183832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Backend: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RESTful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desarrollada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íntegramente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 (Flask)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utilizando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local SQLite.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2895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28956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 Interactivo: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Interfaz web moderna para la gestión eficiente de tickets (bugs, mejoras y reportes del sistema).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" y="3952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395287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Filtros Dinámicos: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Búsqueda cruzada combinada por estado actual, categoría del reporte y nivel de prioridad.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6750" y="5010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71525" y="501015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Componentes Reactivos: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Tarjetas de resumen en tiempo real y modales de creación con validaciones integradas.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5564" y="152400"/>
            <a:ext cx="521017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65D0559-EB41-215A-A3DA-35839708B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581525"/>
            <a:ext cx="5629910" cy="1162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139" y="5120455"/>
            <a:ext cx="1367848" cy="115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02367" y="801329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Integración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Continua (CI)</a:t>
            </a:r>
            <a:endParaRPr dirty="0"/>
          </a:p>
        </p:txBody>
      </p:sp>
      <p:sp>
        <p:nvSpPr>
          <p:cNvPr id="115" name="Google Shape;115;p15"/>
          <p:cNvSpPr/>
          <p:nvPr/>
        </p:nvSpPr>
        <p:spPr>
          <a:xfrm>
            <a:off x="5715000" y="895350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66750" y="1838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183832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Pipeline Automatizado: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Implementación de Lighthouse CI ejecutado a través de los workflows de GitHub Actions.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6750" y="2895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28956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Auditoría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Constante: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Verificación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automática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calidad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la web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pull request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principal.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66750" y="3952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879328" y="5069317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Métricas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Calidad: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Control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estricto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Performance,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Accesibilidad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web, SEO 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Buenas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Prácticas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programación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1774553" y="510992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3910781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Detección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Temprana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Prevención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proactiva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identificación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regresiones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antes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publicar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entorno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productivo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4139" y="5120455"/>
            <a:ext cx="1367848" cy="1156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392A620-A584-C2A1-A620-D7D331A28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808" y="3358023"/>
            <a:ext cx="3997597" cy="3422589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A48563-382A-AFDB-77CC-331E5A00F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7944" y="253927"/>
            <a:ext cx="4652388" cy="3044928"/>
          </a:xfrm>
          <a:prstGeom prst="roundRect">
            <a:avLst>
              <a:gd name="adj" fmla="val 504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81025" y="168756"/>
            <a:ext cx="519064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Entrega Continua (CD)</a:t>
            </a:r>
            <a:endParaRPr dirty="0"/>
          </a:p>
        </p:txBody>
      </p:sp>
      <p:sp>
        <p:nvSpPr>
          <p:cNvPr id="132" name="Google Shape;132;p16"/>
          <p:cNvSpPr/>
          <p:nvPr/>
        </p:nvSpPr>
        <p:spPr>
          <a:xfrm>
            <a:off x="2671762" y="895350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3052762" y="1115367"/>
            <a:ext cx="4943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</a:t>
            </a:r>
            <a:r>
              <a:rPr lang="en-US" sz="1500" b="0" i="0" u="none" strike="noStrike" cap="none" dirty="0">
                <a:solidFill>
                  <a:srgbClr val="FFFF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</a:t>
            </a:r>
            <a:r>
              <a:rPr lang="en-US" sz="1500" b="0" i="0" u="none" strike="noStrike" cap="none" dirty="0" err="1">
                <a:solidFill>
                  <a:srgbClr val="FFFF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Despliegues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3052762" y="1542246"/>
            <a:ext cx="295964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configuró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pipeline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robusto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 GitHub Actions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facilita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entrega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continua del frontend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estático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(HTML, CSS, JS).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6510099" y="302855"/>
            <a:ext cx="4943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Flujo</a:t>
            </a:r>
            <a:r>
              <a:rPr lang="en-US" sz="1500" b="0" i="0" u="none" strike="noStrike" cap="none" dirty="0">
                <a:solidFill>
                  <a:srgbClr val="FFFF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</a:t>
            </a:r>
            <a:r>
              <a:rPr lang="en-US" sz="1500" b="0" i="0" u="none" strike="noStrike" cap="none" dirty="0" err="1">
                <a:solidFill>
                  <a:srgbClr val="FFFF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</a:t>
            </a:r>
            <a:r>
              <a:rPr lang="en-US" sz="1500" b="0" i="0" u="none" strike="noStrike" cap="none" dirty="0">
                <a:solidFill>
                  <a:srgbClr val="FFFF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del Pipeline: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510098" y="799643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Cada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vez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detecta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cambio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válido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rama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el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job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compilación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empaqueta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artefactos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automáticamente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6510097" y="1927879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Posteriormente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el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job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despliegue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publica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aplicación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directamente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GitHub Pages,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acelerando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entrega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nuevas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funciones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fricción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manual.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7DD209-A99C-C22A-6608-D89313280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1897"/>
            <a:ext cx="12192000" cy="26673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4A5B5D0-CDDA-45E8-BDB7-E822FDEB8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12" y="788239"/>
            <a:ext cx="2385705" cy="3094225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40C604D-6A1F-B489-15C0-D673759B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>
            <a:extLst>
              <a:ext uri="{FF2B5EF4-FFF2-40B4-BE49-F238E27FC236}">
                <a16:creationId xmlns:a16="http://schemas.microsoft.com/office/drawing/2014/main" id="{50996991-FED8-FE08-7DFD-807071B58E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366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B737766E-40DB-3BC3-D7CD-F73688EE8209}"/>
              </a:ext>
            </a:extLst>
          </p:cNvPr>
          <p:cNvSpPr/>
          <p:nvPr/>
        </p:nvSpPr>
        <p:spPr>
          <a:xfrm>
            <a:off x="2671762" y="895350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BA523DE-8E6E-8966-976B-08E2412FA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" y="1865834"/>
            <a:ext cx="5943600" cy="2466975"/>
          </a:xfrm>
          <a:prstGeom prst="roundRect">
            <a:avLst>
              <a:gd name="adj" fmla="val 351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Google Shape;134;p16">
            <a:extLst>
              <a:ext uri="{FF2B5EF4-FFF2-40B4-BE49-F238E27FC236}">
                <a16:creationId xmlns:a16="http://schemas.microsoft.com/office/drawing/2014/main" id="{C7FB9FB2-83EB-55F9-61D7-33229542E7E9}"/>
              </a:ext>
            </a:extLst>
          </p:cNvPr>
          <p:cNvSpPr txBox="1"/>
          <p:nvPr/>
        </p:nvSpPr>
        <p:spPr>
          <a:xfrm>
            <a:off x="788807" y="4420718"/>
            <a:ext cx="452790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s-PE" i="1" dirty="0">
                <a:solidFill>
                  <a:schemeClr val="bg1"/>
                </a:solidFill>
              </a:rPr>
              <a:t>Configuración de GitHub Pages en el repositorio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1BF8A6-773E-B012-F61C-62F3197C6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851" y="427668"/>
            <a:ext cx="5610860" cy="5220335"/>
          </a:xfrm>
          <a:prstGeom prst="roundRect">
            <a:avLst>
              <a:gd name="adj" fmla="val 254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Google Shape;134;p16">
            <a:extLst>
              <a:ext uri="{FF2B5EF4-FFF2-40B4-BE49-F238E27FC236}">
                <a16:creationId xmlns:a16="http://schemas.microsoft.com/office/drawing/2014/main" id="{92235C01-48BE-6148-6850-6E138EF9105A}"/>
              </a:ext>
            </a:extLst>
          </p:cNvPr>
          <p:cNvSpPr txBox="1"/>
          <p:nvPr/>
        </p:nvSpPr>
        <p:spPr>
          <a:xfrm>
            <a:off x="7912278" y="5754629"/>
            <a:ext cx="263773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s-PE" i="1" dirty="0">
                <a:solidFill>
                  <a:schemeClr val="bg1"/>
                </a:solidFill>
              </a:rPr>
              <a:t>Historial de </a:t>
            </a:r>
            <a:r>
              <a:rPr lang="es-PE" i="1" dirty="0" err="1">
                <a:solidFill>
                  <a:schemeClr val="bg1"/>
                </a:solidFill>
              </a:rPr>
              <a:t>deploys</a:t>
            </a:r>
            <a:r>
              <a:rPr lang="es-PE" i="1" dirty="0">
                <a:solidFill>
                  <a:schemeClr val="bg1"/>
                </a:solidFill>
              </a:rPr>
              <a:t> exitosos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919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632392" y="1257300"/>
            <a:ext cx="51906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ARQUITECTURA CLOUD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51815" y="1976657"/>
            <a:ext cx="49434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I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nteracción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de la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aplicación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desplegada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: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07695" y="2447328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723900" y="2388347"/>
            <a:ext cx="4800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F2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Frontend (GitHub Pages):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El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usuario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accede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vía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HTTPS;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los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estáticos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se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sirven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desde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una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CDN global.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98411" y="34290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06" name="Google Shape;206;p21"/>
          <p:cNvSpPr txBox="1"/>
          <p:nvPr/>
        </p:nvSpPr>
        <p:spPr>
          <a:xfrm>
            <a:off x="723900" y="3333750"/>
            <a:ext cx="4800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F2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Backend (Render):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El dashboard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realiza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peticiones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HTTP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seguras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a la API RESTful.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69595" y="41910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08" name="Google Shape;208;p21"/>
          <p:cNvSpPr txBox="1"/>
          <p:nvPr/>
        </p:nvSpPr>
        <p:spPr>
          <a:xfrm>
            <a:off x="723900" y="4095750"/>
            <a:ext cx="4800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F2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Gunicorn</a:t>
            </a:r>
            <a:r>
              <a:rPr lang="en-US" sz="1500" b="1" i="0" u="none" strike="noStrike" cap="none" dirty="0">
                <a:solidFill>
                  <a:srgbClr val="00F2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WSGI: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Render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ejecuta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el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servidor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Flask de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manera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eficiente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producción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.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81025" y="49530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210" name="Google Shape;210;p21"/>
          <p:cNvSpPr txBox="1"/>
          <p:nvPr/>
        </p:nvSpPr>
        <p:spPr>
          <a:xfrm>
            <a:off x="723900" y="4857750"/>
            <a:ext cx="4800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F2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Base de Datos: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Flask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procesa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las solicitudes y consulta de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manera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persistente</a:t>
            </a:r>
            <a:r>
              <a:rPr lang="en-US" sz="1500" b="0" i="0" u="none" strike="noStrike" cap="none" dirty="0">
                <a:solidFill>
                  <a:srgbClr val="A0A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 la base SQLite.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3FA8028-BFDF-17FB-9C51-8874D32AF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205" y="282272"/>
            <a:ext cx="3056299" cy="2106075"/>
          </a:xfrm>
          <a:prstGeom prst="roundRect">
            <a:avLst>
              <a:gd name="adj" fmla="val 3985"/>
            </a:avLst>
          </a:prstGeom>
          <a:ln>
            <a:solidFill>
              <a:srgbClr val="FFFF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A4A02B0-0D84-352D-761E-8DA54A8BF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137" y="1505197"/>
            <a:ext cx="3838253" cy="2609850"/>
          </a:xfrm>
          <a:prstGeom prst="roundRect">
            <a:avLst>
              <a:gd name="adj" fmla="val 7067"/>
            </a:avLst>
          </a:prstGeom>
          <a:ln>
            <a:solidFill>
              <a:srgbClr val="FFFF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3B81E28-A45F-1882-B6D4-07339A9BA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3040" y="4057650"/>
            <a:ext cx="4610735" cy="2362200"/>
          </a:xfrm>
          <a:prstGeom prst="roundRect">
            <a:avLst>
              <a:gd name="adj" fmla="val 5429"/>
            </a:avLst>
          </a:prstGeom>
          <a:ln>
            <a:solidFill>
              <a:srgbClr val="FFFF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59;p18" descr="image.png">
            <a:extLst>
              <a:ext uri="{FF2B5EF4-FFF2-40B4-BE49-F238E27FC236}">
                <a16:creationId xmlns:a16="http://schemas.microsoft.com/office/drawing/2014/main" id="{E1DA3CDA-C9D6-67EF-4445-49E82B5FFC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62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3"/>
          <p:cNvGraphicFramePr/>
          <p:nvPr>
            <p:extLst>
              <p:ext uri="{D42A27DB-BD31-4B8C-83A1-F6EECF244321}">
                <p14:modId xmlns:p14="http://schemas.microsoft.com/office/powerpoint/2010/main" val="3688387736"/>
              </p:ext>
            </p:extLst>
          </p:nvPr>
        </p:nvGraphicFramePr>
        <p:xfrm>
          <a:off x="581025" y="2181225"/>
          <a:ext cx="11029950" cy="3657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00F2FF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Característica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00F2FF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GitHub Pages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00F2FF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Render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Tipo de Servicio</a:t>
                      </a:r>
                      <a:endParaRPr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Hosting </a:t>
                      </a:r>
                      <a:r>
                        <a:rPr lang="en-US" sz="1350" b="0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Estático</a:t>
                      </a: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 / CDN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PaaS (Platform as a Service)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Soporte Backend / BD</a:t>
                      </a:r>
                      <a:endParaRPr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No Soportado</a:t>
                      </a:r>
                      <a:endParaRPr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Python, Node, Go / SQLite, Postgres</a:t>
                      </a:r>
                      <a:endParaRPr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Despliegue Automático</a:t>
                      </a:r>
                      <a:endParaRPr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Vía GitHub Actions (CI/CD)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Nativo </a:t>
                      </a:r>
                      <a:r>
                        <a:rPr lang="en-US" sz="1350" b="0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desde</a:t>
                      </a: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 repo GitHub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Certificados</a:t>
                      </a:r>
                      <a:r>
                        <a:rPr lang="en-US" sz="1350" b="1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 de </a:t>
                      </a:r>
                      <a:r>
                        <a:rPr lang="en-US" sz="1350" b="1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Seguridad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HTTPS / SSL </a:t>
                      </a:r>
                      <a:r>
                        <a:rPr lang="en-US" sz="1350" b="0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Automático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HTTPS / SSL </a:t>
                      </a:r>
                      <a:r>
                        <a:rPr lang="en-US" sz="1350" b="0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Automático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Escalado</a:t>
                      </a:r>
                      <a:r>
                        <a:rPr lang="en-US" sz="1350" b="1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 &amp; Logs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Automático (Global) / Logs nulos</a:t>
                      </a:r>
                      <a:endParaRPr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Horizontal / Logs </a:t>
                      </a:r>
                      <a:r>
                        <a:rPr lang="en-US" sz="1350" b="0" i="0" u="none" strike="noStrike" cap="none" dirty="0" err="1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en</a:t>
                      </a:r>
                      <a:r>
                        <a:rPr lang="en-US" sz="1350" b="0" i="0" u="none" strike="noStrike" cap="none" dirty="0">
                          <a:solidFill>
                            <a:srgbClr val="E0E0E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  <a:sym typeface="Urbanist"/>
                        </a:rPr>
                        <a:t> Tiempo Real</a:t>
                      </a:r>
                      <a:endParaRPr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0" name="Google Shape;230;p23"/>
          <p:cNvSpPr/>
          <p:nvPr/>
        </p:nvSpPr>
        <p:spPr>
          <a:xfrm>
            <a:off x="581025" y="2809875"/>
            <a:ext cx="3194446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775471" y="2809875"/>
            <a:ext cx="3760440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535912" y="2809875"/>
            <a:ext cx="4075062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81025" y="3424237"/>
            <a:ext cx="3194446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775471" y="3424237"/>
            <a:ext cx="376044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7535912" y="3424237"/>
            <a:ext cx="4075062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81025" y="4024312"/>
            <a:ext cx="3194446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775471" y="4024312"/>
            <a:ext cx="376044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535912" y="4024312"/>
            <a:ext cx="4075062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81025" y="4624387"/>
            <a:ext cx="3194446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775471" y="4624387"/>
            <a:ext cx="376044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7535912" y="4624387"/>
            <a:ext cx="4075062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81025" y="5224462"/>
            <a:ext cx="3194446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775471" y="5224462"/>
            <a:ext cx="376044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535912" y="5224462"/>
            <a:ext cx="4075062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81025" y="5824537"/>
            <a:ext cx="3194446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775471" y="5824537"/>
            <a:ext cx="376044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535912" y="5824537"/>
            <a:ext cx="4075062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819150" y="581025"/>
            <a:ext cx="11331416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Urbanist"/>
              </a:rPr>
              <a:t>COMPARATIVA DE PLATAFORMAS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81025" y="581025"/>
            <a:ext cx="57150" cy="5905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36564"/>
            <a:ext cx="5324475" cy="383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36564"/>
            <a:ext cx="5324475" cy="383262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Desafíos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y Soluciones</a:t>
            </a:r>
            <a:endParaRPr dirty="0"/>
          </a:p>
        </p:txBody>
      </p:sp>
      <p:sp>
        <p:nvSpPr>
          <p:cNvPr id="163" name="Google Shape;163;p18"/>
          <p:cNvSpPr/>
          <p:nvPr/>
        </p:nvSpPr>
        <p:spPr>
          <a:xfrm>
            <a:off x="5715000" y="895350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971550" y="2427089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1.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Módulo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Backend 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en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Render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971550" y="2903339"/>
            <a:ext cx="45434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desplegar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Render, el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servidor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Gunicorn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encontraba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punto de entrada de la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aplicación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lanzando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crítico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ModuleNotFoundError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971550" y="4011959"/>
            <a:ext cx="45434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Implementada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configuró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comando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arranque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apuntar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correctamente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 se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incorporó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archivo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wsgi.py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personalizado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raíz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direccionar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ruta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6677025" y="2427089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2. Restricciones CORS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677025" y="2903339"/>
            <a:ext cx="45434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frontend alojado remotamente en GitHub Pages recibía bloqueos de seguridad del navegador al intentar consumir los endpoints del backend en Render.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77025" y="4286250"/>
            <a:ext cx="45434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Implementada: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 importó y configuró la librería 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Flask-CORS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nivel global en la API para aceptar explícitamente solicitudes originadas desde cualquier dominio de forma segura.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Conclusiones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0" y="895350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104900" y="1981200"/>
            <a:ext cx="9953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Completada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implementó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éxito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incidentes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funcional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con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clara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separación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entre el backend y frontend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interactivo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1104900" y="3038475"/>
            <a:ext cx="9953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Aseguramiento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Calidad: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integración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sistemática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Lighthouse CI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garantizó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forma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automatizada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rigurosos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estándares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técnicos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mantengan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1104900" y="4095750"/>
            <a:ext cx="9953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Agilidad Operativa: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automatización del despliegue mediante CD eliminó el margen de error humano y las demoras típicas en la fase de publicación.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104900" y="5153025"/>
            <a:ext cx="9953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Viabilidad en la Nube: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uso combinado de Render y GitHub Pages comprobó de forma práctica la estabilidad de alojar arquitecturas reales sin costo inicial.</a:t>
            </a:r>
            <a:endParaRPr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1930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07657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3385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191125"/>
            <a:ext cx="3810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658</Words>
  <Application>Microsoft Office PowerPoint</Application>
  <PresentationFormat>Panorámica</PresentationFormat>
  <Paragraphs>71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Outfit ExtraBold</vt:lpstr>
      <vt:lpstr>Inter</vt:lpstr>
      <vt:lpstr>Inter SemiBold</vt:lpstr>
      <vt:lpstr>Urbanist</vt:lpstr>
      <vt:lpstr>Inter Medium</vt:lpstr>
      <vt:lpstr>Arial</vt:lpstr>
      <vt:lpstr>Outfit</vt:lpstr>
      <vt:lpstr>ADLaM Display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Jack HS</dc:creator>
  <cp:lastModifiedBy>ALUMNO - JACK JEFFERSON HUAMAN SALAS</cp:lastModifiedBy>
  <cp:revision>7</cp:revision>
  <dcterms:modified xsi:type="dcterms:W3CDTF">2026-07-03T06:55:53Z</dcterms:modified>
</cp:coreProperties>
</file>